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59" r:id="rId5"/>
    <p:sldId id="27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EF133-B4D4-40B8-9786-69AAD8B2DB9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8D436-CA69-477C-83B0-C9DD7A1BD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40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3F0-5468-4D3C-B2E9-80F383CAFE0A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3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B9ECF-FFED-423C-8BB5-1C29E323A02E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5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CC779-95C8-4E41-AB2F-D1FEAB985783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1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6B79-E8D9-479E-8232-A2D9B8148B77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1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DB59-566F-4ECD-A138-9962D6D9BD2D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4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16CA-CADB-473C-8515-8B9AB4894C77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37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5ADC-67AC-45E8-8E64-DEE3EC3AA906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7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30CE-B4E9-4BA9-A1FC-EB51BFB66CB2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14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8420-A80F-44E6-867C-CE4480781D53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1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042-6BB4-4932-82F7-F6B2EE70DDEA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5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2C10-730A-4870-B2F1-72911250FAB7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9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5EE87-7D7E-4188-B85F-2347DB07BF3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EABE3-4DC3-49A9-BC38-33F53B35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2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Project 1: Integration of Merge Sort &amp; Insertion Sort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Ng Zheng Ning</a:t>
            </a:r>
          </a:p>
          <a:p>
            <a:r>
              <a:rPr lang="en-US" dirty="0" smtClean="0"/>
              <a:t>Nguyen Xuan Hoang</a:t>
            </a:r>
          </a:p>
          <a:p>
            <a:r>
              <a:rPr lang="en-US" dirty="0" smtClean="0"/>
              <a:t>Ng Yee Teck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0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Prelude</a:t>
            </a:r>
          </a:p>
          <a:p>
            <a:r>
              <a:rPr lang="en-US" sz="2000" dirty="0" smtClean="0"/>
              <a:t>Part (a)</a:t>
            </a:r>
          </a:p>
          <a:p>
            <a:r>
              <a:rPr lang="en-US" sz="2000" dirty="0" smtClean="0"/>
              <a:t>Part (b)</a:t>
            </a:r>
          </a:p>
          <a:p>
            <a:r>
              <a:rPr lang="en-US" sz="2000" dirty="0" smtClean="0"/>
              <a:t>Part (c)</a:t>
            </a:r>
          </a:p>
          <a:p>
            <a:r>
              <a:rPr lang="en-US" sz="2000" dirty="0" smtClean="0"/>
              <a:t>Part (d)</a:t>
            </a:r>
          </a:p>
          <a:p>
            <a:r>
              <a:rPr lang="en-US" sz="2000" dirty="0" smtClean="0"/>
              <a:t>Codebase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6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Prelude: Merge 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 smtClean="0"/>
                  <a:t>Divide the array until the subarrays are size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 smtClean="0"/>
                  <a:t>, then merge the sub arrays back while sorting them.</a:t>
                </a:r>
              </a:p>
              <a:p>
                <a:r>
                  <a:rPr lang="en-US" sz="2000" dirty="0" smtClean="0"/>
                  <a:t>Time complexity: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for all cases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 smtClean="0"/>
                  <a:t> symbols the array size)</a:t>
                </a:r>
              </a:p>
              <a:p>
                <a:r>
                  <a:rPr lang="en-US" sz="2000" dirty="0" smtClean="0"/>
                  <a:t>Image below: Merge Sort Implementation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1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Prelude: Insertion Sort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 smtClean="0"/>
                  <a:t>Insertion Sort: Divide array into 2 parts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 smtClean="0"/>
                  <a:t> elements; consider first part as sorted, then move elements from the second part to the first while keeping the first part sorted until the whole array is sorted.</a:t>
                </a:r>
              </a:p>
              <a:p>
                <a:r>
                  <a:rPr lang="en-US" sz="2000" dirty="0" smtClean="0"/>
                  <a:t>Time complexity: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average and worst case (reverse sorted array);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for best case (sorted array).</a:t>
                </a:r>
              </a:p>
              <a:p>
                <a:r>
                  <a:rPr lang="en-US" sz="2000" dirty="0" smtClean="0"/>
                  <a:t>Here we introduce a variant that only sorts from a start index to an end index.</a:t>
                </a:r>
              </a:p>
              <a:p>
                <a:r>
                  <a:rPr lang="en-US" sz="2000" dirty="0" smtClean="0"/>
                  <a:t>Image below: Insertion Sort </a:t>
                </a:r>
                <a:r>
                  <a:rPr lang="en-US" sz="2000" dirty="0"/>
                  <a:t>implementation that only sorts from a start index to an end </a:t>
                </a:r>
                <a:r>
                  <a:rPr lang="en-US" sz="2000" dirty="0" smtClean="0"/>
                  <a:t>index.</a:t>
                </a:r>
                <a:endParaRPr lang="en-US" sz="2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6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Prelude: </a:t>
            </a:r>
            <a:r>
              <a:rPr lang="en-US" dirty="0" smtClean="0"/>
              <a:t>Key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Define what a “Key Comparison” is in this slide and how to measure in Insertion/Merge Sort.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6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(a) - Algorithm implementation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 smtClean="0"/>
                  <a:t>The </a:t>
                </a:r>
                <a:r>
                  <a:rPr lang="en-US" sz="2000" dirty="0"/>
                  <a:t>a</a:t>
                </a:r>
                <a:r>
                  <a:rPr lang="en-US" sz="2000" dirty="0" smtClean="0"/>
                  <a:t>lgorithm requires to combine Merge Sort and Insertion Sort in a way such that the subarrays divided by Merge Sort can only have a minimum size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. If the subarray’s size is smaller than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, Insertion Sort will be used.</a:t>
                </a:r>
              </a:p>
              <a:p>
                <a:r>
                  <a:rPr lang="en-US" sz="2000" dirty="0" smtClean="0"/>
                  <a:t>The way </a:t>
                </a:r>
                <a:r>
                  <a:rPr lang="en-US" sz="2000" dirty="0" smtClean="0"/>
                  <a:t>to do is to bake the Insertion Sort into the base case of the division/recursion function of Merge Sort.</a:t>
                </a:r>
              </a:p>
              <a:p>
                <a:r>
                  <a:rPr lang="en-US" sz="2000" dirty="0" smtClean="0"/>
                  <a:t>Images </a:t>
                </a:r>
                <a:r>
                  <a:rPr lang="en-US" sz="2000" dirty="0" smtClean="0"/>
                  <a:t>below: Comparison of the normal and modified divide function in Merge Sort.</a:t>
                </a:r>
                <a:endParaRPr lang="en-US" sz="2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8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(a) - Algorithm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Full Image of the Algorithm here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8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(b) - Generate input data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 smtClean="0"/>
                  <a:t>We generated arrays with sizes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 smtClean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000" dirty="0" smtClean="0"/>
                  <a:t> with the script below.</a:t>
                </a:r>
              </a:p>
              <a:p>
                <a:r>
                  <a:rPr lang="en-US" sz="2000" dirty="0" smtClean="0"/>
                  <a:t>We set the maximum allowed value for our datasets to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dirty="0" smtClean="0"/>
                  <a:t>Image of script below</a:t>
                </a:r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9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(c) - Analyze time complexity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Part (c) i.: Fixed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, measure number of key comparisons over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dirty="0" smtClean="0"/>
                  <a:t>Write something here and add some </a:t>
                </a:r>
                <a:r>
                  <a:rPr lang="en-US" sz="2000" dirty="0" smtClean="0"/>
                  <a:t>plots/figs/scripts.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7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(c) - Analyze 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Part (c) ii.: Fixed n, measure number of key comparisons over S.</a:t>
            </a:r>
          </a:p>
          <a:p>
            <a:r>
              <a:rPr lang="en-US" sz="2000" dirty="0" smtClean="0"/>
              <a:t>Write something here and add some </a:t>
            </a:r>
            <a:r>
              <a:rPr lang="en-US" sz="2000" dirty="0" smtClean="0"/>
              <a:t>plots/figs/scripts.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3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(c) - Analyze time complexity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 smtClean="0"/>
                  <a:t>Part (c) iii.: Varied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 smtClean="0"/>
                  <a:t>, find optimal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dirty="0" smtClean="0"/>
                  <a:t>Write something here and add some </a:t>
                </a:r>
                <a:r>
                  <a:rPr lang="en-US" sz="2000" dirty="0" smtClean="0"/>
                  <a:t>plots/figs/scripts.</a:t>
                </a:r>
                <a:endParaRPr lang="en-US" sz="2000" dirty="0" smtClean="0"/>
              </a:p>
              <a:p>
                <a:r>
                  <a:rPr lang="en-US" sz="2000" dirty="0" smtClean="0"/>
                  <a:t>Thus, the optimal value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 is …</a:t>
                </a: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3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(d) - Compare with original Merge 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 smtClean="0"/>
                  <a:t>We have the plots showing the time and key comparisons of Merge Sort against the hybrid sorting algorithm in (a)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 &lt;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Optimal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last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slide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000" dirty="0" smtClean="0"/>
                  <a:t>)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dirty="0" smtClean="0"/>
                  <a:t>Some analysis…</a:t>
                </a:r>
              </a:p>
              <a:p>
                <a:r>
                  <a:rPr lang="en-US" sz="2000" dirty="0" smtClean="0"/>
                  <a:t>Give image of script here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(d) - Compare with original Merge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Give </a:t>
            </a:r>
            <a:r>
              <a:rPr lang="en-US" sz="2000" dirty="0" smtClean="0"/>
              <a:t>image of script here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4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Codebase: &lt;Add </a:t>
            </a:r>
            <a:r>
              <a:rPr lang="en-US" sz="2000" dirty="0" smtClean="0"/>
              <a:t>GitHub/Google Drive/OneDrive </a:t>
            </a:r>
            <a:r>
              <a:rPr lang="en-US" sz="2000" dirty="0" smtClean="0"/>
              <a:t>link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ABE3-4DC3-49A9-BC38-33F53B3511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0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453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Project 1: Integration of Merge Sort &amp; Insertion Sort</vt:lpstr>
      <vt:lpstr>Overview</vt:lpstr>
      <vt:lpstr>Prelude: Merge Sort</vt:lpstr>
      <vt:lpstr>Prelude: Insertion Sort</vt:lpstr>
      <vt:lpstr>Prelude: Key Comparison</vt:lpstr>
      <vt:lpstr>Part (a) - Algorithm implementation</vt:lpstr>
      <vt:lpstr>Part (a) - Algorithm implementation</vt:lpstr>
      <vt:lpstr>Part (b) - Generate input data</vt:lpstr>
      <vt:lpstr>Part (c) - Analyze time complexity</vt:lpstr>
      <vt:lpstr>Part (c) - Analyze time complexity</vt:lpstr>
      <vt:lpstr>Part (c) - Analyze time complexity</vt:lpstr>
      <vt:lpstr>Part (d) - Compare with original Merge Sort</vt:lpstr>
      <vt:lpstr>Part (d) - Compare with original Merge Sort</vt:lpstr>
      <vt:lpstr>Codebase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1: Integration of Merge Sort &amp; Insertion Sort</dc:title>
  <dc:creator>IBKHN</dc:creator>
  <cp:lastModifiedBy>IBKHN</cp:lastModifiedBy>
  <cp:revision>104</cp:revision>
  <dcterms:created xsi:type="dcterms:W3CDTF">2026-09-20T08:43:37Z</dcterms:created>
  <dcterms:modified xsi:type="dcterms:W3CDTF">2026-09-20T10:05:02Z</dcterms:modified>
</cp:coreProperties>
</file>